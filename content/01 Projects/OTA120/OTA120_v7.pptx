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45720" cy="32004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OTA 120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208483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全透明 · 全健築 · 全生命週期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建築5.0 的智慧靈魂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 ·  Modeling  ·  Evolving  ·  Experiencing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01000" y="594360"/>
            <a:ext cx="731520" cy="182880"/>
          </a:xfrm>
          <a:prstGeom prst="rect">
            <a:avLst/>
          </a:prstGeom>
          <a:solidFill>
            <a:srgbClr val="1B7A4A">
              <a:alpha val="18000"/>
            </a:srgbClr>
          </a:solidFill>
          <a:ln w="12700">
            <a:solidFill>
              <a:srgbClr val="1B7A4A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987552"/>
            <a:ext cx="1463040" cy="182880"/>
          </a:xfrm>
          <a:prstGeom prst="rect">
            <a:avLst/>
          </a:prstGeom>
          <a:solidFill>
            <a:srgbClr val="1B7A4A">
              <a:alpha val="22000"/>
            </a:srgbClr>
          </a:solidFill>
          <a:ln w="12700">
            <a:solidFill>
              <a:srgbClr val="1B7A4A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1380744"/>
            <a:ext cx="1005840" cy="182880"/>
          </a:xfrm>
          <a:prstGeom prst="rect">
            <a:avLst/>
          </a:prstGeom>
          <a:solidFill>
            <a:srgbClr val="1B7A4A">
              <a:alpha val="26000"/>
            </a:srgbClr>
          </a:solidFill>
          <a:ln w="12700">
            <a:solidFill>
              <a:srgbClr val="1B7A4A">
                <a:alpha val="2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773936"/>
            <a:ext cx="1828800" cy="182880"/>
          </a:xfrm>
          <a:prstGeom prst="rect">
            <a:avLst/>
          </a:prstGeom>
          <a:solidFill>
            <a:srgbClr val="1B7A4A">
              <a:alpha val="30000"/>
            </a:srgbClr>
          </a:solidFill>
          <a:ln w="12700">
            <a:solidFill>
              <a:srgbClr val="1B7A4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2167128"/>
            <a:ext cx="1280160" cy="182880"/>
          </a:xfrm>
          <a:prstGeom prst="rect">
            <a:avLst/>
          </a:prstGeom>
          <a:solidFill>
            <a:srgbClr val="1B7A4A">
              <a:alpha val="34000"/>
            </a:srgbClr>
          </a:solidFill>
          <a:ln w="12700">
            <a:solidFill>
              <a:srgbClr val="1B7A4A">
                <a:alpha val="3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560320"/>
            <a:ext cx="2194560" cy="182880"/>
          </a:xfrm>
          <a:prstGeom prst="rect">
            <a:avLst/>
          </a:prstGeom>
          <a:solidFill>
            <a:srgbClr val="1B7A4A">
              <a:alpha val="38000"/>
            </a:srgbClr>
          </a:solidFill>
          <a:ln w="12700">
            <a:solidFill>
              <a:srgbClr val="1B7A4A">
                <a:alpha val="3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2953512"/>
            <a:ext cx="914400" cy="182880"/>
          </a:xfrm>
          <a:prstGeom prst="rect">
            <a:avLst/>
          </a:prstGeom>
          <a:solidFill>
            <a:srgbClr val="1B7A4A">
              <a:alpha val="42000"/>
            </a:srgbClr>
          </a:solidFill>
          <a:ln w="12700">
            <a:solidFill>
              <a:srgbClr val="1B7A4A">
                <a:alpha val="4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0E07"/>
          </a:solidFill>
          <a:ln w="12700">
            <a:solidFill>
              <a:srgbClr val="060E0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434840"/>
            <a:ext cx="9144000" cy="27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480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寶譪建設  ×  WELLTEK  ×  NVIDIA Omniverse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480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· 2026.04 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CENTENNIAL BUILDING PASSPORT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建築不再只是不動產，而是持續進化的智慧載體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22960"/>
            <a:ext cx="1828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36576" cy="3611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0584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全透明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1737360"/>
            <a:ext cx="1536192" cy="1371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810512"/>
            <a:ext cx="1609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每一次維修、升級、工法均記錄於 OpenUSD 數位孪生。業主與下一代住戶皆可查驗完整建築履歷——可驗證的資料層，而非紙本保固書。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40864" y="822960"/>
            <a:ext cx="1828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822960"/>
            <a:ext cx="36576" cy="3611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0584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全健築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LIVING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87168" y="1737360"/>
            <a:ext cx="1536192" cy="1371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810512"/>
            <a:ext cx="1609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AIoT 感測器即時監測空氣、溫熱、水質、聲學、能耗，對應 WELL Building Standard 五大指標。住宅健康狀態是即時量化的數字。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34256" y="822960"/>
            <a:ext cx="18288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822960"/>
            <a:ext cx="36576" cy="3611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00584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全生命週期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480560" y="1481328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1737360"/>
            <a:ext cx="1536192" cy="13716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10512"/>
            <a:ext cx="160934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BIM 幾何與竃工感測資料共享同一空間座標系。從圖面到維運，是連續的數據，不是斷裂的檔案交接。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822960"/>
            <a:ext cx="2487168" cy="3611880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822960"/>
            <a:ext cx="36576" cy="36118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96926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7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7863840" y="12801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73952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可追源建築數位履歷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1975104"/>
            <a:ext cx="2240280" cy="10973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12140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7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7863840" y="24323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73952" y="28163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即時感測維度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3127248"/>
            <a:ext cx="2240280" cy="10973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27355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7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7863840" y="358444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73952" y="3968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OTA 無線軟體迭代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建築的神經系統 · WELLTEK × AIoT × MQTT 資料管道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41248"/>
            <a:ext cx="4617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60704"/>
            <a:ext cx="155448" cy="155448"/>
          </a:xfrm>
          <a:prstGeom prst="ellipse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9509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空氣品質  PM2.5 / CO₂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9509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PM2.5: 8 µg/m³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87952" y="1014984"/>
            <a:ext cx="685800" cy="23774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101498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Air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7472" y="1517904"/>
            <a:ext cx="4617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737360"/>
            <a:ext cx="155448" cy="155448"/>
          </a:xfrm>
          <a:prstGeom prst="ellipse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溫熱舒適  Temp / RH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6276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26.2°C · 58% RH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87952" y="1691640"/>
            <a:ext cx="685800" cy="23774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16916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Thermal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2194560"/>
            <a:ext cx="4617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14016"/>
            <a:ext cx="155448" cy="155448"/>
          </a:xfrm>
          <a:prstGeom prst="ellipse">
            <a:avLst/>
          </a:prstGeom>
          <a:solidFill>
            <a:srgbClr val="1A7A6A"/>
          </a:solidFill>
          <a:ln w="12700">
            <a:solidFill>
              <a:srgbClr val="1A7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用水水質  TDS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304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TDS: 142 ppm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87952" y="2368296"/>
            <a:ext cx="685800" cy="23774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3682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Water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7472" y="2871216"/>
            <a:ext cx="4617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090672"/>
            <a:ext cx="155448" cy="155448"/>
          </a:xfrm>
          <a:prstGeom prst="ellipse">
            <a:avLst/>
          </a:prstGeom>
          <a:solidFill>
            <a:srgbClr val="5A9B7E"/>
          </a:solidFill>
          <a:ln w="12700">
            <a:solidFill>
              <a:srgbClr val="5A9B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980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聲學環境  dBA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dBA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87952" y="3044952"/>
            <a:ext cx="685800" cy="23774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87952" y="3044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Sound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3547872"/>
            <a:ext cx="46177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767328"/>
            <a:ext cx="155448" cy="155448"/>
          </a:xfrm>
          <a:prstGeom prst="ellipse">
            <a:avLst/>
          </a:prstGeom>
          <a:solidFill>
            <a:srgbClr val="9BB8A0"/>
          </a:solidFill>
          <a:ln w="12700">
            <a:solidFill>
              <a:srgbClr val="9BB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57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能源消耗  kWh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kWh/hr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87952" y="3721608"/>
            <a:ext cx="685800" cy="23774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87952" y="37216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Light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230368" y="804672"/>
            <a:ext cx="3657600" cy="39044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0368" y="804672"/>
            <a:ext cx="3657600" cy="3657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67528" y="886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PIPELINE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67528" y="1261872"/>
            <a:ext cx="3383280" cy="365760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1298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WELLTEK 12-in-1 IoT Sensors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31536" y="176479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MQTT :1883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31536" y="2231136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Mosquitto Broker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31536" y="2697480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Node.js server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31536" y="316382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SQLite  ←  歷史存檔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31536" y="363016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REST :3000  /  WS :3001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67528" y="4059936"/>
            <a:ext cx="3383280" cy="365760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4096512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663440"/>
            <a:ext cx="9144000" cy="27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690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in 1 Sensor  ·  1 Hz Sampling  ·  24/7 Uptime  ·  WELL認證資料基礎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DISPLAY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雙主螢幕展示設定 · UE5 ArchViz × NVIDIA Omniverse Digital Twin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804672"/>
            <a:ext cx="3602736" cy="2276856"/>
          </a:xfrm>
          <a:prstGeom prst="rect">
            <a:avLst/>
          </a:prstGeom>
          <a:solidFill>
            <a:srgbClr val="E0ECE5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68680"/>
            <a:ext cx="3474720" cy="2148840"/>
          </a:xfrm>
          <a:prstGeom prst="rect">
            <a:avLst/>
          </a:prstGeom>
          <a:solidFill>
            <a:srgbClr val="0A1200"/>
          </a:solidFill>
          <a:ln w="25400">
            <a:solidFill>
              <a:srgbClr val="1B7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868680"/>
            <a:ext cx="3474720" cy="54864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4300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14300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9424" y="114300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2656" y="114300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64592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6192" y="164592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49424" y="164592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164592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14884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36192" y="214884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9424" y="214884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2148840"/>
            <a:ext cx="73152" cy="73152"/>
          </a:xfrm>
          <a:prstGeom prst="ellipse">
            <a:avLst/>
          </a:prstGeom>
          <a:solidFill>
            <a:srgbClr val="1B7A4A">
              <a:alpha val="35000"/>
            </a:srgbClr>
          </a:solidFill>
          <a:ln w="12700">
            <a:solidFill>
              <a:srgbClr val="1B7A4A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35915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ArchViz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" y="268833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GI  ·  Real-time Rendering  ·  UE 5.6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57400" y="3072384"/>
            <a:ext cx="365760" cy="256032"/>
          </a:xfrm>
          <a:prstGeom prst="rect">
            <a:avLst/>
          </a:prstGeom>
          <a:solidFill>
            <a:srgbClr val="D1DAD5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9656" y="3319272"/>
            <a:ext cx="841248" cy="4572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438144"/>
            <a:ext cx="3474720" cy="402336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438144"/>
            <a:ext cx="36576" cy="40233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34747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主螢幕 L — 建築實境漫遊 · Lumen 全局光照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02352" y="804672"/>
            <a:ext cx="3602736" cy="2276856"/>
          </a:xfrm>
          <a:prstGeom prst="rect">
            <a:avLst/>
          </a:prstGeom>
          <a:solidFill>
            <a:srgbClr val="E0ECE5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868680"/>
            <a:ext cx="3474720" cy="2148840"/>
          </a:xfrm>
          <a:prstGeom prst="rect">
            <a:avLst/>
          </a:prstGeom>
          <a:solidFill>
            <a:srgbClr val="0A1200"/>
          </a:solidFill>
          <a:ln w="25400">
            <a:solidFill>
              <a:srgbClr val="0A7B6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868680"/>
            <a:ext cx="3474720" cy="54864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114300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632" y="114300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2864" y="114300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26096" y="114300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164592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164592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2864" y="164592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6096" y="164592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214884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214884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864" y="214884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6096" y="2148840"/>
            <a:ext cx="73152" cy="73152"/>
          </a:xfrm>
          <a:prstGeom prst="ellipse">
            <a:avLst/>
          </a:prstGeom>
          <a:solidFill>
            <a:srgbClr val="0A7B6F">
              <a:alpha val="35000"/>
            </a:srgbClr>
          </a:solidFill>
          <a:ln w="12700">
            <a:solidFill>
              <a:srgbClr val="0A7B6F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6088" y="2359152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Omniverse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76088" y="2688336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OpenUSD Digital Twin  ·  Omniverse Kit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0840" y="3072384"/>
            <a:ext cx="365760" cy="256032"/>
          </a:xfrm>
          <a:prstGeom prst="rect">
            <a:avLst/>
          </a:prstGeom>
          <a:solidFill>
            <a:srgbClr val="D1DAD5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83096" y="3319272"/>
            <a:ext cx="841248" cy="45720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66360" y="3438144"/>
            <a:ext cx="3474720" cy="402336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66360" y="3438144"/>
            <a:ext cx="36576" cy="402336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94376" y="34747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主螢幕 R — 數位孪生即時同步 · OpenUSD Stage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822192" y="1572768"/>
            <a:ext cx="1499616" cy="512064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2192" y="162763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 / UDP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22192" y="1828800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 ms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968496" y="1828800"/>
            <a:ext cx="768096" cy="0"/>
          </a:xfrm>
          <a:prstGeom prst="line">
            <a:avLst/>
          </a:prstGeom>
          <a:noFill/>
          <a:ln w="12700">
            <a:solidFill>
              <a:srgbClr val="2FA26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736592" y="1828800"/>
            <a:ext cx="448056" cy="0"/>
          </a:xfrm>
          <a:prstGeom prst="line">
            <a:avLst/>
          </a:prstGeom>
          <a:noFill/>
          <a:ln w="12700">
            <a:solidFill>
              <a:srgbClr val="2FA26A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005072" y="3310128"/>
            <a:ext cx="113385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FA2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05072" y="3310128"/>
            <a:ext cx="1133856" cy="36576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05072" y="3474720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 CONTROL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005072" y="3712464"/>
            <a:ext cx="1133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:9000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72000" y="3072384"/>
            <a:ext cx="0" cy="237744"/>
          </a:xfrm>
          <a:prstGeom prst="line">
            <a:avLst/>
          </a:prstGeom>
          <a:noFill/>
          <a:ln w="12700">
            <a:solidFill>
              <a:srgbClr val="2FA26A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單一真相來源 · BIM × OpenUSD × 空間資料整合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" cy="65836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8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BIM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115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07008" y="804672"/>
            <a:ext cx="2523744" cy="65836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82296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28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施工監管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25296" y="11155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5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30752" y="804672"/>
            <a:ext cx="420624" cy="658368"/>
          </a:xfrm>
          <a:prstGeom prst="rect">
            <a:avLst/>
          </a:prstGeom>
          <a:solidFill>
            <a:srgbClr val="DDE3E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51376" y="804672"/>
            <a:ext cx="4626864" cy="658368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82296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維運傳承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9664" y="1115568"/>
            <a:ext cx="4590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維運才是主戰場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1901952"/>
            <a:ext cx="416052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901952"/>
            <a:ext cx="36576" cy="292608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19933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空間資料如何整合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2395728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BIM 幾何（IFC / USD）匠入 Omniverse 後轉為 OpenUSD Stage，建立毫米級精準的空間座標系。感知層每筆感測資料都帶有位置參數——PM2.5 數値知道自己在建築的哪個角落。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IFC / Revit → USD → Omniverse Nucleus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管線位置、設備座標與感測器部署位置對齊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維修紀錄附加於 USD Prim，不可篹改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901952"/>
            <a:ext cx="41148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901952"/>
            <a:ext cx="36576" cy="2926080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B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 OpenUSD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2395728"/>
            <a:ext cx="374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USD（Universal Scene Description）是 NVIDIA 與 Pixar 共同推動的 3D 世界標準，支援跨工具互通：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Revit  ·  Rhino  ·  Omniverse  ·  UE5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carb.eventBus 實現 Omniverse Kit 擴充模組的即插即用。各系統共享同一個 OpenUSD Stage，無需重複轉檔。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840480"/>
            <a:ext cx="3749040" cy="822960"/>
          </a:xfrm>
          <a:prstGeom prst="rect">
            <a:avLst/>
          </a:prstGeom>
          <a:solidFill>
            <a:srgbClr val="F4F6F8"/>
          </a:solidFill>
          <a:ln w="15240">
            <a:solidFill>
              <a:srgbClr val="2FA26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892040" y="3840480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22208" y="3840480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4643323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22208" y="4643323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3840480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4544568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20963" y="3840480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0963" y="4544568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0873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 USD RENDER  PLACEHOLDER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可進化的建築不會老化 · OTA × 全生命週期 × 數位孪生持續學習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04672"/>
            <a:ext cx="8458200" cy="457200"/>
          </a:xfrm>
          <a:prstGeom prst="rect">
            <a:avLst/>
          </a:prstGeom>
          <a:solidFill>
            <a:srgbClr val="F4F6F8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36576" cy="45720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8321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傳統建築交屋後就開始折舊。OTA 120 的邏輯相反——建築交屋後，數據才開始真正累積，系統才開始真正學習。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" y="1371600"/>
            <a:ext cx="4114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371600"/>
            <a:ext cx="36576" cy="263347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OTA 更新機制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1865376"/>
            <a:ext cx="38221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感測資料持續寫入 SQLite，建立設備健康基線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異常模式被 Node.js server 偉測，觸發維護通知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數位孪生設備狀態隨物理世界同步更新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Dashboard 可下發配置變更至建築系統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1728" y="1371600"/>
            <a:ext cx="4114800" cy="263347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1371600"/>
            <a:ext cx="36576" cy="26334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數位孪生持續學習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4608" y="1865376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歷史資料 = 訓練資料集的原始來源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感測時間序列 = 預測性維護的特徵工程基礎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OpenUSD 空間語意 = 空間 AI 的結構化輸入</a:t>
            </a:r>
            <a:endParaRPr lang="en-US" sz="1200" dirty="0"/>
          </a:p>
          <a:p>
            <a:pPr indent="0" marL="0">
              <a:buNone/>
            </a:pPr>
            <a:r>
              <a:rPr lang="en-US" sz="1200" b="1" i="1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今天的資料管道，是明天 AI Digital Twin 的地基。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4087368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4087368"/>
            <a:ext cx="777240" cy="7772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0873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8720" y="41239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硬體維護通知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425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提前 72 對時預警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4087368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4087368"/>
            <a:ext cx="777240" cy="777240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0873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041648" y="41239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軟體效能優化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41648" y="4425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無需停機即可套用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4087368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4087368"/>
            <a:ext cx="777240" cy="7772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40873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94576" y="41239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8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空調系統校正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94576" y="4425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附完整操作紀錄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空間本身就是最好的介面 · 五螢幕展場 × iPad × 感測資料驅動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8412480" cy="228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023360" cy="27432"/>
          </a:xfrm>
          <a:prstGeom prst="rect">
            <a:avLst/>
          </a:prstGeom>
          <a:solidFill>
            <a:srgbClr val="152820"/>
          </a:solidFill>
          <a:ln w="12700">
            <a:solidFill>
              <a:srgbClr val="1528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7432" cy="2377440"/>
          </a:xfrm>
          <a:prstGeom prst="rect">
            <a:avLst/>
          </a:prstGeom>
          <a:solidFill>
            <a:srgbClr val="152820"/>
          </a:solidFill>
          <a:ln w="12700">
            <a:solidFill>
              <a:srgbClr val="1528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804672"/>
            <a:ext cx="27432" cy="2377440"/>
          </a:xfrm>
          <a:prstGeom prst="rect">
            <a:avLst/>
          </a:prstGeom>
          <a:solidFill>
            <a:srgbClr val="152820"/>
          </a:solidFill>
          <a:ln w="12700">
            <a:solidFill>
              <a:srgbClr val="15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896112"/>
            <a:ext cx="201168" cy="640080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33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713232" y="868680"/>
            <a:ext cx="1188720" cy="594360"/>
          </a:xfrm>
          <a:prstGeom prst="rect">
            <a:avLst/>
          </a:prstGeom>
          <a:solidFill>
            <a:srgbClr val="0A1200"/>
          </a:solidFill>
          <a:ln w="25400">
            <a:solidFill>
              <a:srgbClr val="1B7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868680"/>
            <a:ext cx="1188720" cy="4572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969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ArchViz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3232" y="1216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Screen L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057400" y="868680"/>
            <a:ext cx="1188720" cy="594360"/>
          </a:xfrm>
          <a:prstGeom prst="rect">
            <a:avLst/>
          </a:prstGeom>
          <a:solidFill>
            <a:srgbClr val="0A1200"/>
          </a:solidFill>
          <a:ln w="25400">
            <a:solidFill>
              <a:srgbClr val="0A7B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868680"/>
            <a:ext cx="1188720" cy="45720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969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57400" y="12161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Screen 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337560" y="896112"/>
            <a:ext cx="201168" cy="640080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33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621024" y="896112"/>
            <a:ext cx="640080" cy="640080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21024" y="896112"/>
            <a:ext cx="640080" cy="3657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1024" y="1005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WELLTEK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554480" y="1883664"/>
            <a:ext cx="548640" cy="347472"/>
          </a:xfrm>
          <a:prstGeom prst="rect">
            <a:avLst/>
          </a:prstGeom>
          <a:solidFill>
            <a:srgbClr val="F4F6F8"/>
          </a:solidFill>
          <a:ln w="19050">
            <a:solidFill>
              <a:srgbClr val="2FA2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19293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27632" y="1481328"/>
            <a:ext cx="0" cy="402336"/>
          </a:xfrm>
          <a:prstGeom prst="line">
            <a:avLst/>
          </a:prstGeom>
          <a:noFill/>
          <a:ln w="12700">
            <a:solidFill>
              <a:srgbClr val="2FA26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615184" y="1481328"/>
            <a:ext cx="0" cy="402336"/>
          </a:xfrm>
          <a:prstGeom prst="line">
            <a:avLst/>
          </a:prstGeom>
          <a:noFill/>
          <a:ln w="12700">
            <a:solidFill>
              <a:srgbClr val="2FA26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28800" y="16093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:9000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8640" y="2395728"/>
            <a:ext cx="3017520" cy="640080"/>
          </a:xfrm>
          <a:prstGeom prst="rect">
            <a:avLst/>
          </a:prstGeom>
          <a:solidFill>
            <a:srgbClr val="F4F6F8">
              <a:alpha val="70000"/>
            </a:srgbClr>
          </a:solidFill>
          <a:ln w="12700">
            <a:solidFill>
              <a:srgbClr val="8A9BB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26243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ZONE  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1463040" cy="34747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80 ms  end-to-end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0240" y="32004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PLAN  /  TOP 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" y="3520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Safari → WS :9000 → bridge.js → OSC/UDP → UE :8000 + Omniverse :8001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804672"/>
            <a:ext cx="20848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804672"/>
            <a:ext cx="36576" cy="1170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896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 健康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9744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 PM2.5 ↓ · CO₂ ↓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9744" y="1517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UE5  清晨自然光 · 植栽動態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39712" y="804672"/>
            <a:ext cx="20848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804672"/>
            <a:ext cx="36576" cy="117043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896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ECO 節能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86016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 能耗曲線即時下降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86016" y="1517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UE5  遷陽聯動 · 溫控調適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2084832"/>
            <a:ext cx="20848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084832"/>
            <a:ext cx="36576" cy="1170432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B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CINEMA 影音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9744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 照度 ↓ · 噪音 ↓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09744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UE5  燈光漸暗 · 聲學模式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39712" y="2084832"/>
            <a:ext cx="2084832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39712" y="2084832"/>
            <a:ext cx="36576" cy="1170432"/>
          </a:xfrm>
          <a:prstGeom prst="rect">
            <a:avLst/>
          </a:prstGeom>
          <a:solidFill>
            <a:srgbClr val="3D6B5E"/>
          </a:solidFill>
          <a:ln w="12700">
            <a:solidFill>
              <a:srgbClr val="3D6B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2176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SLEEP 睡眠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86016" y="2523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WELLTEK  CO₂ ↓ · 溫熱達標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86016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UE5  月光氛圍 · 全靜音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63440" y="3401568"/>
            <a:ext cx="4261104" cy="1005840"/>
          </a:xfrm>
          <a:prstGeom prst="rect">
            <a:avLst/>
          </a:prstGeom>
          <a:solidFill>
            <a:srgbClr val="F4F6F8"/>
          </a:solidFill>
          <a:ln w="15240">
            <a:solidFill>
              <a:srgbClr val="2FA26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663440" y="3401568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05672" y="3401568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387291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05672" y="4387291"/>
            <a:ext cx="118872" cy="20117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3401568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63440" y="4288536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04427" y="3401568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04427" y="4288536"/>
            <a:ext cx="20117" cy="11887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63440" y="3739896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A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UE5 ARCHVIZ  /  OMNIVERSE RENDER  PLACEHOLDER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2820"/>
          </a:solidFill>
          <a:ln w="12700">
            <a:solidFill>
              <a:srgbClr val="152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FOUR-LAYER INTEGRATION · 四層真實整合系統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65008" y="0"/>
            <a:ext cx="1078992" cy="5143500"/>
          </a:xfrm>
          <a:prstGeom prst="rect">
            <a:avLst/>
          </a:prstGeom>
          <a:solidFill>
            <a:srgbClr val="EAEFF4"/>
          </a:solidFill>
          <a:ln w="12700">
            <a:solidFill>
              <a:srgbClr val="EAEF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65008" y="0"/>
            <a:ext cx="22860" cy="5143500"/>
          </a:xfrm>
          <a:prstGeom prst="rect">
            <a:avLst/>
          </a:prstGeom>
          <a:solidFill>
            <a:srgbClr val="DDE3E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8083296" y="731520"/>
            <a:ext cx="1005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IDENTITY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83296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83296" y="4032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Token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83296" y="4361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7472" y="896112"/>
            <a:ext cx="7552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896112"/>
            <a:ext cx="658368" cy="89611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89611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78992" y="1225296"/>
            <a:ext cx="237744" cy="237744"/>
          </a:xfrm>
          <a:prstGeom prst="ellipse">
            <a:avLst/>
          </a:prstGeom>
          <a:solidFill>
            <a:srgbClr val="1B7A4A">
              <a:alpha val="20000"/>
            </a:srgbClr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26464" y="9692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感知層  SENSING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6464" y="13167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WELLTEK 12-in-1 IoT Devices  →  MQTT :1883  →  Mosquitto Broker  →  Node.js server  →  SQLite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1920240"/>
            <a:ext cx="7552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920240"/>
            <a:ext cx="658368" cy="896112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20240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78992" y="2249424"/>
            <a:ext cx="237744" cy="237744"/>
          </a:xfrm>
          <a:prstGeom prst="ellipse">
            <a:avLst/>
          </a:prstGeom>
          <a:solidFill>
            <a:srgbClr val="2FA26A">
              <a:alpha val="20000"/>
            </a:srgbClr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26464" y="19933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2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資料層 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23408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→  REST :3000  →  React Dashboard (歷史查詢)   |   WebSocket :3001  →  React Dashboard (即時推播)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2944368"/>
            <a:ext cx="7552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944368"/>
            <a:ext cx="658368" cy="896112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44368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8992" y="3273552"/>
            <a:ext cx="237744" cy="237744"/>
          </a:xfrm>
          <a:prstGeom prst="ellipse">
            <a:avLst/>
          </a:prstGeom>
          <a:solidFill>
            <a:srgbClr val="0A7B6F">
              <a:alpha val="20000"/>
            </a:srgbClr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26464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B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數位孪生層  DIGITAL TWIN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26464" y="33649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Omniverse Kit:  mqtt.bridge  |  osc.controller  |  exhibition.board  |  warp.windtunnel  |  dashboard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426464" y="35844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carb.eventBus  →  OpenUSD Stage  (BIM + Sensor 共享座標系)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3968496"/>
            <a:ext cx="7552944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968496"/>
            <a:ext cx="658368" cy="896112"/>
          </a:xfrm>
          <a:prstGeom prst="rect">
            <a:avLst/>
          </a:prstGeom>
          <a:solidFill>
            <a:srgbClr val="3D6B5E"/>
          </a:solidFill>
          <a:ln w="12700">
            <a:solidFill>
              <a:srgbClr val="3D6B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968496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78992" y="4297680"/>
            <a:ext cx="237744" cy="237744"/>
          </a:xfrm>
          <a:prstGeom prst="ellipse">
            <a:avLst/>
          </a:prstGeom>
          <a:solidFill>
            <a:srgbClr val="3D6B5E">
              <a:alpha val="20000"/>
            </a:srgbClr>
          </a:solidFill>
          <a:ln w="12700">
            <a:solidFill>
              <a:srgbClr val="3D6B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26464" y="40416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體驗層  EXPERIENCE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26464" y="43891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 5.6 ArchVizExplorer (Lumen GI)  +  iPad Safari → React UI → WS :9000 → bridge.js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26464" y="46085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OSC/UDP → UE :8000 (場景·燈光·動畫)   |   OSC/UDP → Omniverse :8001 (孪生同步)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45720" cy="31089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建築5.0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8105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全透明 · 全健築 · 可進化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寶譪建設 × WELLTEK × NVIDIA Omniverse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聯手定義台灣豪宅的下一個百年標準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4206240" cy="54864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 · Let's build the first one together.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457200"/>
            <a:ext cx="502920" cy="749808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457200"/>
            <a:ext cx="502920" cy="3657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74320"/>
            <a:ext cx="1005840" cy="1188720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74320"/>
            <a:ext cx="1005840" cy="3657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274320"/>
            <a:ext cx="1005840" cy="1188720"/>
          </a:xfrm>
          <a:prstGeom prst="rect">
            <a:avLst/>
          </a:prstGeom>
          <a:solidFill>
            <a:srgbClr val="0A1200"/>
          </a:solidFill>
          <a:ln w="19050">
            <a:solidFill>
              <a:srgbClr val="0A7B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274320"/>
            <a:ext cx="1005840" cy="36576"/>
          </a:xfrm>
          <a:prstGeom prst="rect">
            <a:avLst/>
          </a:prstGeom>
          <a:solidFill>
            <a:srgbClr val="0A7B6F"/>
          </a:solidFill>
          <a:ln w="12700">
            <a:solidFill>
              <a:srgbClr val="0A7B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457200"/>
            <a:ext cx="457200" cy="749808"/>
          </a:xfrm>
          <a:prstGeom prst="rect">
            <a:avLst/>
          </a:prstGeom>
          <a:solidFill>
            <a:srgbClr val="0A1200"/>
          </a:solidFill>
          <a:ln w="19050">
            <a:solidFill>
              <a:srgbClr val="1B7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57200"/>
            <a:ext cx="457200" cy="36576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572768"/>
            <a:ext cx="566928" cy="777240"/>
          </a:xfrm>
          <a:prstGeom prst="rect">
            <a:avLst/>
          </a:prstGeom>
          <a:solidFill>
            <a:srgbClr val="0A1200"/>
          </a:solidFill>
          <a:ln w="19050">
            <a:solidFill>
              <a:srgbClr val="2FA2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572768"/>
            <a:ext cx="566928" cy="36576"/>
          </a:xfrm>
          <a:prstGeom prst="rect">
            <a:avLst/>
          </a:prstGeom>
          <a:solidFill>
            <a:srgbClr val="2FA26A"/>
          </a:solidFill>
          <a:ln w="12700">
            <a:solidFill>
              <a:srgbClr val="2FA2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2423160"/>
            <a:ext cx="3246120" cy="22860"/>
          </a:xfrm>
          <a:prstGeom prst="rect">
            <a:avLst/>
          </a:prstGeom>
          <a:solidFill>
            <a:srgbClr val="1A3A1A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0E07"/>
          </a:solidFill>
          <a:ln w="12700">
            <a:solidFill>
              <a:srgbClr val="060E0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434840"/>
            <a:ext cx="9144000" cy="27432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80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OTA 120  數位指揮中心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4480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OTA 120 — 建築5.0 的智慧靈魂</dc:title>
  <dc:subject>PptxGenJS Presentation</dc:subject>
  <dc:creator>PptxGenJS</dc:creator>
  <cp:lastModifiedBy>PptxGenJS</cp:lastModifiedBy>
  <cp:revision>1</cp:revision>
  <dcterms:created xsi:type="dcterms:W3CDTF">2026-04-11T20:29:38Z</dcterms:created>
  <dcterms:modified xsi:type="dcterms:W3CDTF">2026-04-11T20:29:38Z</dcterms:modified>
</cp:coreProperties>
</file>