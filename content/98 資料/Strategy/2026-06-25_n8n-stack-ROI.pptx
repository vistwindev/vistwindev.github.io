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8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02920"/>
            <a:ext cx="8138160" cy="0"/>
          </a:xfrm>
          <a:prstGeom prst="line">
            <a:avLst/>
          </a:prstGeom>
          <a:noFill/>
          <a:ln w="12700">
            <a:solidFill>
              <a:srgbClr val="3F3F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5669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4F4F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{ VISION BASE }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26280" y="5669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100" kern="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 0.0  ·  INTERNAL STRATEGY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91440" cy="91440"/>
          </a:xfrm>
          <a:prstGeom prst="ellipse">
            <a:avLst/>
          </a:prstGeom>
          <a:solidFill>
            <a:srgbClr val="76B900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14813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9DD1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STRATEGY · ROI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82880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4F4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n8n / 自動化堆疊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502920" y="269748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4F4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策略與 ROI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02920" y="3657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1A1A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n8n 不是資產,是手段。資產是會省錢 / 賺錢的流程,與可轉移的編排與 agent 能力。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02920" y="45262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71717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2026-06-25  ·  FRANCIS  ·  P2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02920"/>
            <a:ext cx="8138160" cy="0"/>
          </a:xfrm>
          <a:prstGeom prst="line">
            <a:avLst/>
          </a:prstGeom>
          <a:noFill/>
          <a:ln w="12700">
            <a:solidFill>
              <a:srgbClr val="D4D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5669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C93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TL;DR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983480" y="5669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100" kern="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{ summary } / 0.1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96012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300" b="1" dirty="0">
                <a:solidFill>
                  <a:srgbClr val="18181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一頁看懂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02920" y="1874520"/>
            <a:ext cx="8138160" cy="0"/>
          </a:xfrm>
          <a:prstGeom prst="line">
            <a:avLst/>
          </a:prstGeom>
          <a:noFill/>
          <a:ln w="12700">
            <a:solidFill>
              <a:srgbClr val="E4E4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98424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80160" y="19659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8181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沒有比 n8n 更完整的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0" y="1965960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2525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「廣整合 + 自架 + 不綁模型的編排」這條車道,目前沒有任何巨頭工具比 n8n 更完整。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87752"/>
            <a:ext cx="8138160" cy="0"/>
          </a:xfrm>
          <a:prstGeom prst="line">
            <a:avLst/>
          </a:prstGeom>
          <a:noFill/>
          <a:ln w="12700">
            <a:solidFill>
              <a:srgbClr val="E4E4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6974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/02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80160" y="2679192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8181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互補,不是二選一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657600" y="2679192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2525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巨頭強在模型 / agent 智慧;n8n 強在整合廣度、自架、中立。兩者常是互補。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0984"/>
            <a:ext cx="8138160" cy="0"/>
          </a:xfrm>
          <a:prstGeom prst="line">
            <a:avLst/>
          </a:prstGeom>
          <a:noFill/>
          <a:ln w="12700">
            <a:solidFill>
              <a:srgbClr val="E4E4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41071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/03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80160" y="3392424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8181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最佳解已成形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657600" y="3392424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2525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n8n 當薄殼編排 + 接最強 agent(Claude)當大腦。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4014216"/>
            <a:ext cx="8138160" cy="0"/>
          </a:xfrm>
          <a:prstGeom prst="line">
            <a:avLst/>
          </a:prstGeom>
          <a:noFill/>
          <a:ln w="12700">
            <a:solidFill>
              <a:srgbClr val="E4E4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412394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/04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80160" y="4105656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8181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真正的風險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657600" y="4105656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2525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不是「n8n 被 AI 殺死」,而是把時間投在完善工具,而非接上能算出錢的流程。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4727448"/>
            <a:ext cx="8138160" cy="0"/>
          </a:xfrm>
          <a:prstGeom prst="line">
            <a:avLst/>
          </a:prstGeom>
          <a:noFill/>
          <a:ln w="12700">
            <a:solidFill>
              <a:srgbClr val="E4E4E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47731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{ VISION BASE }</a:t>
            </a:r>
            <a:pPr indent="0" marL="0">
              <a:buNone/>
            </a:pPr>
            <a:r>
              <a:rPr lang="en-US" sz="800" spc="100" kern="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·  n8n strategy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7269480" y="477316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 0.1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02920"/>
            <a:ext cx="8138160" cy="0"/>
          </a:xfrm>
          <a:prstGeom prst="line">
            <a:avLst/>
          </a:prstGeom>
          <a:noFill/>
          <a:ln w="12700">
            <a:solidFill>
              <a:srgbClr val="D4D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5669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C93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MARKET POSITION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983480" y="5669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100" kern="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{ market } / 0.2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96012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300" b="1" dirty="0">
                <a:solidFill>
                  <a:srgbClr val="18181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巨頭生態下,n8n 還能用嗎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502920" y="178308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181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會,但角色位移。</a:t>
            </a:r>
            <a:pPr indent="0" marL="0">
              <a:buNone/>
            </a:pPr>
            <a:r>
              <a:rPr lang="en-US" sz="1500" dirty="0">
                <a:solidFill>
                  <a:srgbClr val="52525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 從「自動化的大腦」→「agent 外面那層的安全韁繩 + 整合織布」。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" y="2423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6791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1A1A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自動化的大腦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297680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C930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983480" y="24231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C93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NOW → FUTURE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983480" y="26791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8181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agent 外層的安全韁繩 + 整合織布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02920" y="3520440"/>
            <a:ext cx="8138160" cy="0"/>
          </a:xfrm>
          <a:prstGeom prst="line">
            <a:avLst/>
          </a:prstGeom>
          <a:noFill/>
          <a:ln w="12700">
            <a:solidFill>
              <a:srgbClr val="E4E4E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370332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18181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模型越強,瓶頸越不是「AI 會不會做」</a:t>
            </a:r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52525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,而是能不能 </a:t>
            </a:r>
            <a:pPr indent="0" marL="0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5C930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控制、攔截、排程、觀察、安全整合</a:t>
            </a:r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52525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— 這正是 n8n 的車道,需求變大不變小。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02920" y="47731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{ VISION BASE }</a:t>
            </a:r>
            <a:pPr indent="0" marL="0">
              <a:buNone/>
            </a:pPr>
            <a:r>
              <a:rPr lang="en-US" sz="800" spc="100" kern="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·  n8n strategy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269480" y="477316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 0.2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02920"/>
            <a:ext cx="8138160" cy="0"/>
          </a:xfrm>
          <a:prstGeom prst="line">
            <a:avLst/>
          </a:prstGeom>
          <a:noFill/>
          <a:ln w="12700">
            <a:solidFill>
              <a:srgbClr val="D4D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5669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C93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MOAT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983480" y="5669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100" kern="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{ moat } / 0.3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96012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300" b="1" dirty="0">
                <a:solidFill>
                  <a:srgbClr val="18181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為什麼這利基不會被巨頭收割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50292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717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巨頭的商業誘因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218541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8181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獲利 = 鎖定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02920" y="27889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2525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綁你的雲、模型、生態。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0" y="1920240"/>
            <a:ext cx="0" cy="1371600"/>
          </a:xfrm>
          <a:prstGeom prst="line">
            <a:avLst/>
          </a:prstGeom>
          <a:noFill/>
          <a:ln w="12700">
            <a:solidFill>
              <a:srgbClr val="E4E4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348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717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n8n 的本質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83480" y="218541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C930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自架 · 中立 · 完整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983480" y="27889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2525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降低鎖定 — 與巨頭誘因直接衝突。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611880"/>
            <a:ext cx="8138160" cy="914400"/>
          </a:xfrm>
          <a:prstGeom prst="rect">
            <a:avLst/>
          </a:prstGeom>
          <a:solidFill>
            <a:srgbClr val="FAFAFA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7673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C93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結論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402336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8181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這個衝突保護了 n8n 的利基 → 投入不會被巨頭蒸發。他們頂多給「免費夠用的雲端版」再讓你離不開。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02920" y="47731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{ VISION BASE }</a:t>
            </a:r>
            <a:pPr indent="0" marL="0">
              <a:buNone/>
            </a:pPr>
            <a:r>
              <a:rPr lang="en-US" sz="800" spc="100" kern="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·  n8n strategy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269480" y="477316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 0.3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02920"/>
            <a:ext cx="8138160" cy="0"/>
          </a:xfrm>
          <a:prstGeom prst="line">
            <a:avLst/>
          </a:prstGeom>
          <a:noFill/>
          <a:ln w="12700">
            <a:solidFill>
              <a:srgbClr val="D4D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5669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C93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TRANSFERABILITY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983480" y="5669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100" kern="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{ 80 / 20 } / 0.4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96012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300" b="1" dirty="0">
                <a:solidFill>
                  <a:srgbClr val="18181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投入會不會打水漂?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02920" y="1783080"/>
            <a:ext cx="6510528" cy="310896"/>
          </a:xfrm>
          <a:prstGeom prst="rect">
            <a:avLst/>
          </a:prstGeom>
          <a:solidFill>
            <a:srgbClr val="18181B"/>
          </a:solidFill>
          <a:ln/>
        </p:spPr>
      </p:sp>
      <p:sp>
        <p:nvSpPr>
          <p:cNvPr id="7" name="Shape 5"/>
          <p:cNvSpPr/>
          <p:nvPr/>
        </p:nvSpPr>
        <p:spPr>
          <a:xfrm>
            <a:off x="7013448" y="1783080"/>
            <a:ext cx="1627632" cy="310896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78308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80% 可轉移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104888" y="178308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2525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20% 丟棄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2468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181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~80%  </a:t>
            </a:r>
            <a:pPr indent="0" marL="0">
              <a:buNone/>
            </a:pPr>
            <a:r>
              <a:rPr lang="en-US" sz="1700" b="1" dirty="0">
                <a:solidFill>
                  <a:srgbClr val="18181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可轉移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02920" y="288036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流程設計、編排模式(控圈 / 人工關卡 / 去重 / 排程)、agent 技能、橋接器架構、API / MCP 概念。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" y="3794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5C930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n8n 若消失 → 原封不動搬走(Windmill / Temporal / cron)。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0" y="2514600"/>
            <a:ext cx="0" cy="1645920"/>
          </a:xfrm>
          <a:prstGeom prst="line">
            <a:avLst/>
          </a:prstGeom>
          <a:noFill/>
          <a:ln w="12700">
            <a:solidFill>
              <a:srgbClr val="E4E4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83480" y="2468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1A1A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~20%  </a:t>
            </a:r>
            <a:pPr indent="0" marL="0">
              <a:buNone/>
            </a:pPr>
            <a:r>
              <a:rPr lang="en-US" sz="1700" b="1" dirty="0">
                <a:solidFill>
                  <a:srgbClr val="18181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專屬 / 丟棄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983480" y="288036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n8n 專屬節點怎麼拉、怪癖。丟掉,但幾天重學。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983480" y="3794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8181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刻意把 n8n 做薄,鎖定風險低。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02920" y="47731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{ VISION BASE }</a:t>
            </a:r>
            <a:pPr indent="0" marL="0">
              <a:buNone/>
            </a:pPr>
            <a:r>
              <a:rPr lang="en-US" sz="800" spc="100" kern="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·  n8n strategy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269480" y="477316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 0.4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02920"/>
            <a:ext cx="8138160" cy="0"/>
          </a:xfrm>
          <a:prstGeom prst="line">
            <a:avLst/>
          </a:prstGeom>
          <a:noFill/>
          <a:ln w="12700">
            <a:solidFill>
              <a:srgbClr val="D4D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5669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C93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ROI / BUSINESS CASE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983480" y="5669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100" kern="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{ roi } / 0.5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96012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300" b="1" dirty="0">
                <a:solidFill>
                  <a:srgbClr val="18181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真正該問的:ROI / 商業命題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502920" y="1783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25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n8n 是成本中心,除非掛上三者之一: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2240280"/>
            <a:ext cx="2438400" cy="0"/>
          </a:xfrm>
          <a:prstGeom prst="line">
            <a:avLst/>
          </a:prstGeom>
          <a:noFill/>
          <a:ln w="19050">
            <a:solidFill>
              <a:srgbClr val="D4D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23500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2697480"/>
            <a:ext cx="243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181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省下可量化工時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3081528"/>
            <a:ext cx="243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717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內部營運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15640" y="2240280"/>
            <a:ext cx="2438400" cy="0"/>
          </a:xfrm>
          <a:prstGeom prst="line">
            <a:avLst/>
          </a:prstGeom>
          <a:noFill/>
          <a:ln w="19050">
            <a:solidFill>
              <a:srgbClr val="D4D4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15640" y="23500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215640" y="2697480"/>
            <a:ext cx="243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181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能賣的能力 / 服務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215640" y="3081528"/>
            <a:ext cx="243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717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客戶交付 / VISION BASE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28360" y="2240280"/>
            <a:ext cx="2438400" cy="0"/>
          </a:xfrm>
          <a:prstGeom prst="line">
            <a:avLst/>
          </a:prstGeom>
          <a:noFill/>
          <a:ln w="19050">
            <a:solidFill>
              <a:srgbClr val="D4D4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28360" y="23500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928360" y="2697480"/>
            <a:ext cx="243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181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變成產品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928360" y="3081528"/>
            <a:ext cx="243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717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可規模化資產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3611880"/>
            <a:ext cx="8138160" cy="914400"/>
          </a:xfrm>
          <a:prstGeom prst="rect">
            <a:avLst/>
          </a:prstGeom>
          <a:solidFill>
            <a:srgbClr val="FAFAFA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3730752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C93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ROI = </a:t>
            </a:r>
            <a:pPr indent="0" marL="0">
              <a:buNone/>
            </a:pPr>
            <a:r>
              <a:rPr lang="en-US" sz="1400" b="1" dirty="0">
                <a:solidFill>
                  <a:srgbClr val="18181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(每週省下小時 × 時薪) − (建置 + 維護)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77240" y="411480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2525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個人知識系統的帳很容易是負的 — 除非真的拔掉每週重複的苦工。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02920" y="47731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{ VISION BASE }</a:t>
            </a:r>
            <a:pPr indent="0" marL="0">
              <a:buNone/>
            </a:pPr>
            <a:r>
              <a:rPr lang="en-US" sz="800" spc="100" kern="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·  n8n strategy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269480" y="477316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 0.5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02920"/>
            <a:ext cx="8138160" cy="0"/>
          </a:xfrm>
          <a:prstGeom prst="line">
            <a:avLst/>
          </a:prstGeom>
          <a:noFill/>
          <a:ln w="12700">
            <a:solidFill>
              <a:srgbClr val="D4D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5669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C93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DIRECTION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983480" y="5669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100" kern="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{ next } / 0.6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96012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300" b="1" dirty="0">
                <a:solidFill>
                  <a:srgbClr val="18181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方向 / 建議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02920" y="1828800"/>
            <a:ext cx="8138160" cy="0"/>
          </a:xfrm>
          <a:prstGeom prst="line">
            <a:avLst/>
          </a:prstGeom>
          <a:noFill/>
          <a:ln w="12700">
            <a:solidFill>
              <a:srgbClr val="E4E4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93852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80160" y="19202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8181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先定商業命題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520440" y="19202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2525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省時間 / 接案能力 / 產品 — 沒想清前別加碼。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42032"/>
            <a:ext cx="8138160" cy="0"/>
          </a:xfrm>
          <a:prstGeom prst="line">
            <a:avLst/>
          </a:prstGeom>
          <a:noFill/>
          <a:ln w="12700">
            <a:solidFill>
              <a:srgbClr val="E4E4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6517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/02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80160" y="2633472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8181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基礎建設封頂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20440" y="263347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2525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已經夠好,停止打磨(開機自啟、app 圖示…商業回報 ≈ 0)。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255264"/>
            <a:ext cx="8138160" cy="0"/>
          </a:xfrm>
          <a:prstGeom prst="line">
            <a:avLst/>
          </a:prstGeom>
          <a:noFill/>
          <a:ln w="12700">
            <a:solidFill>
              <a:srgbClr val="E4E4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36499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/03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80160" y="3346704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8181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挑一個流程跑 2–4 週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520440" y="334670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2525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量「省幾小時」。例:發布資安稽核 — 一跑就抓到機密外洩,有真實價值。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3968496"/>
            <a:ext cx="8138160" cy="0"/>
          </a:xfrm>
          <a:prstGeom prst="line">
            <a:avLst/>
          </a:prstGeom>
          <a:noFill/>
          <a:ln w="12700">
            <a:solidFill>
              <a:srgbClr val="E4E4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407822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/04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80160" y="4059936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8181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別深練 n8n 本身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520440" y="405993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2525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可賣資產是流程 + agent 技能 + 設計 / 建築 domain know-how。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4681728"/>
            <a:ext cx="8138160" cy="0"/>
          </a:xfrm>
          <a:prstGeom prst="line">
            <a:avLst/>
          </a:prstGeom>
          <a:noFill/>
          <a:ln w="12700">
            <a:solidFill>
              <a:srgbClr val="E4E4E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47731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{ VISION BASE }</a:t>
            </a:r>
            <a:pPr indent="0" marL="0">
              <a:buNone/>
            </a:pPr>
            <a:r>
              <a:rPr lang="en-US" sz="800" spc="100" kern="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·  n8n strategy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7269480" y="477316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 0.6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02920"/>
            <a:ext cx="8138160" cy="0"/>
          </a:xfrm>
          <a:prstGeom prst="line">
            <a:avLst/>
          </a:prstGeom>
          <a:noFill/>
          <a:ln w="12700">
            <a:solidFill>
              <a:srgbClr val="D4D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5669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C93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DATA · LOCAL vs REMOTE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983480" y="5669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100" kern="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{ data } / 0.7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96012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300" b="1" dirty="0">
                <a:solidFill>
                  <a:srgbClr val="18181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本地 vs 遠端(資料現實)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181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檔案 — 留本地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2920" y="2212848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對話 / 紀錄存本地(~/.claude/projects,權限 600),可本地看、無遠端後台。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0" y="1874520"/>
            <a:ext cx="0" cy="1280160"/>
          </a:xfrm>
          <a:prstGeom prst="line">
            <a:avLst/>
          </a:prstGeom>
          <a:noFill/>
          <a:ln w="12700">
            <a:solidFill>
              <a:srgbClr val="E4E4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1828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C930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內容 — 會傳輸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983480" y="2212848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推論在 Anthropic 雲:agent 讀的筆記內容為了推論會送出機器(走 Max 訂閱)。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920" y="3337560"/>
            <a:ext cx="8138160" cy="1188720"/>
          </a:xfrm>
          <a:prstGeom prst="rect">
            <a:avLst/>
          </a:prstGeom>
          <a:solidFill>
            <a:srgbClr val="FAFAFA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47472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8181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「vault 不出門」指檔案儲存 / 同步;內容仍會傳輸。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77240" y="388620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要 100% 不出機器 → 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8181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本地 LLM(Ollama 等)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,代價是能力差一截;可考慮 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8181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混合分流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(敏感區本地、其餘 Claude)。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2920" y="47731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{ VISION BASE }</a:t>
            </a:r>
            <a:pPr indent="0" marL="0">
              <a:buNone/>
            </a:pPr>
            <a:r>
              <a:rPr lang="en-US" sz="800" spc="100" kern="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·  n8n strategy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269480" y="477316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 0.7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8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02920"/>
            <a:ext cx="8138160" cy="0"/>
          </a:xfrm>
          <a:prstGeom prst="line">
            <a:avLst/>
          </a:prstGeom>
          <a:noFill/>
          <a:ln w="12700">
            <a:solidFill>
              <a:srgbClr val="3F3F4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21792"/>
            <a:ext cx="91440" cy="91440"/>
          </a:xfrm>
          <a:prstGeom prst="ellipse">
            <a:avLst/>
          </a:prstGeom>
          <a:solidFill>
            <a:srgbClr val="76B900"/>
          </a:solidFill>
          <a:ln/>
        </p:spPr>
      </p:sp>
      <p:sp>
        <p:nvSpPr>
          <p:cNvPr id="4" name="Text 2"/>
          <p:cNvSpPr/>
          <p:nvPr/>
        </p:nvSpPr>
        <p:spPr>
          <a:xfrm>
            <a:off x="704088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9DD1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ONE LINE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98348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100" kern="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 0.8  ·  CLOSE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4F4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n8n 不是資產,是手段。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02920" y="20574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300" b="1" dirty="0">
                <a:solidFill>
                  <a:srgbClr val="9DD11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資產是「會省錢 / 賺錢的流程」+「可轉移的編排與 agent 能力」。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502920" y="2880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1A1A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把時間從「完善工具」轉到「指向一個能算出錢的流程」。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3611880"/>
            <a:ext cx="8138160" cy="0"/>
          </a:xfrm>
          <a:prstGeom prst="line">
            <a:avLst/>
          </a:prstGeom>
          <a:noFill/>
          <a:ln w="12700">
            <a:solidFill>
              <a:srgbClr val="3F3F4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3749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9DD1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{ next 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783080" y="374904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1A1A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決定商業命題(省時間 / 接案 / 產品)後,回填 ROI 一節。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1A1A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挑一個流程跑 2–4 週,量化省下的工時。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n8n / 自動化堆疊 — 策略與 ROI</dc:title>
  <dc:subject>PptxGenJS Presentation</dc:subject>
  <dc:creator>Francis / VISION BASE</dc:creator>
  <cp:lastModifiedBy>Francis / VISION BASE</cp:lastModifiedBy>
  <cp:revision>1</cp:revision>
  <dcterms:created xsi:type="dcterms:W3CDTF">2026-06-24T20:11:12Z</dcterms:created>
  <dcterms:modified xsi:type="dcterms:W3CDTF">2026-06-24T20:11:12Z</dcterms:modified>
</cp:coreProperties>
</file>